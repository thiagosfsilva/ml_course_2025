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1" Type="http://schemas.openxmlformats.org/officeDocument/2006/relationships/viewProps" Target="viewProps.xml" /><Relationship Id="rId8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3" Type="http://schemas.openxmlformats.org/officeDocument/2006/relationships/tableStyles" Target="tableStyles.xml" /><Relationship Id="rId8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tidymodels.org/" TargetMode="External" /><Relationship Id="rId3" Type="http://schemas.openxmlformats.org/officeDocument/2006/relationships/hyperlink" Target="https://www.tmwr.org/" TargetMode="External" /><Relationship Id="rId4" Type="http://schemas.openxmlformats.org/officeDocument/2006/relationships/hyperlink" Target="https://link.springer.com/book/10.1007/978-1-4614-6849-3" TargetMode="External" /><Relationship Id="rId5" Type="http://schemas.openxmlformats.org/officeDocument/2006/relationships/hyperlink" Target="https://scikit-learn.org/stable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watch?v=ZVR2Way4nwQ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doi.org/10.1023/A:1010933404324" TargetMode="External" /><Relationship Id="rId3" Type="http://schemas.openxmlformats.org/officeDocument/2006/relationships/image" Target="../media/image10.jp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watch?v=v6VJ2RO66Ag&amp;t=61s" TargetMode="Externa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24432/C5DW2B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4.png" /><Relationship Id="rId2" Type="http://schemas.openxmlformats.org/officeDocument/2006/relationships/image" Target="../media/image13.png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evelopers.google.com/machine-learning/crash-course/classification/accuracy-precision-recall" TargetMode="Externa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Aula 4 -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Introdução ao aprendizado de máquina - UEMA 2025</a:t>
            </a:r>
            <a:br/>
            <a:br/>
            <a:r>
              <a:rPr/>
              <a:t>Thiago S. F. Silva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I - Introdução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Revisitando: </a:t>
            </a:r>
            <a:r>
              <a:rPr i="1"/>
              <a:t>machine learning</a:t>
            </a:r>
            <a:r>
              <a:rPr/>
              <a:t> vs. estatística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Focado em </a:t>
            </a:r>
            <a:r>
              <a:rPr b="1"/>
              <a:t>predição</a:t>
            </a:r>
          </a:p>
          <a:p>
            <a:pPr lvl="0"/>
            <a:r>
              <a:rPr/>
              <a:t>Sem valor-p, intervalo de confiança, pressuposições, etc.</a:t>
            </a:r>
          </a:p>
          <a:p>
            <a:pPr lvl="0"/>
            <a:r>
              <a:rPr/>
              <a:t>Pouca ou nenhuma </a:t>
            </a:r>
            <a:r>
              <a:rPr b="1"/>
              <a:t>interpretabilidade</a:t>
            </a:r>
            <a:r>
              <a:rPr/>
              <a:t> do modelo.</a:t>
            </a:r>
          </a:p>
          <a:p>
            <a:pPr lvl="0"/>
            <a:r>
              <a:rPr/>
              <a:t>Sem preocupação com o ‘mínimo modelo’ ou parsimônia.</a:t>
            </a:r>
          </a:p>
          <a:p>
            <a:pPr lvl="0"/>
            <a:r>
              <a:rPr/>
              <a:t>Os melhores algoritmos de ML não requerem linearidade, normalidade, independência, etc.</a:t>
            </a:r>
          </a:p>
          <a:p>
            <a:pPr lvl="0"/>
            <a:r>
              <a:rPr/>
              <a:t>Bons métodos estatísticos (ex. modelos lineares) são inferiores para ML.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Exemplo: Boston Housing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'data.frame':   506 obs. of  14 variables:
 $ crim   : num  0.00632 0.02731 0.02729 0.03237 0.06905 ...
 $ zn     : num  18 0 0 0 0 0 12.5 12.5 12.5 12.5 ...
 $ indus  : num  2.31 7.07 7.07 2.18 2.18 2.18 7.87 7.87 7.87 7.87 ...
 $ chas   : int  0 0 0 0 0 0 0 0 0 0 ...
 $ nox    : num  0.538 0.469 0.469 0.458 0.458 0.458 0.524 0.524 0.524 0.524 ...
 $ rm     : num  6.58 6.42 7.18 7 7.15 ...
 $ age    : num  65.2 78.9 61.1 45.8 54.2 58.7 66.6 96.1 100 85.9 ...
 $ dis    : num  4.09 4.97 4.97 6.06 6.06 ...
 $ rad    : int  1 2 2 3 3 3 5 5 5 5 ...
 $ tax    : num  296 242 242 222 222 222 311 311 311 311 ...
 $ ptratio: num  15.3 17.8 17.8 18.7 18.7 18.7 15.2 15.2 15.2 15.2 ...
 $ black  : num  397 397 393 395 397 ...
 $ lstat  : num  4.98 9.14 4.03 2.94 5.33 ...
 $ medv   : num  24 21.6 34.7 33.4 36.2 28.7 22.9 27.1 16.5 18.9 ...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Regressão Linear vs 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4
  model .metric .estimator .estimate
  &lt;chr&gt; &lt;chr&gt;   &lt;chr&gt;          &lt;dbl&gt;
1 OLS   rmse    standard        6.03
2 RF    rmse    standard        3.15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Terminologia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Treinamento:</a:t>
            </a:r>
            <a:r>
              <a:rPr/>
              <a:t> cálculo dos parâmetros do modelo a partir dos dados.</a:t>
            </a:r>
          </a:p>
          <a:p>
            <a:pPr lvl="0"/>
            <a:r>
              <a:rPr b="1"/>
              <a:t>Tuning (otimização):</a:t>
            </a:r>
            <a:r>
              <a:rPr/>
              <a:t> otimização dos </a:t>
            </a:r>
            <a:r>
              <a:rPr i="1"/>
              <a:t>hyperparâmetros</a:t>
            </a:r>
            <a:r>
              <a:rPr/>
              <a:t> do modelo.</a:t>
            </a:r>
          </a:p>
          <a:p>
            <a:pPr lvl="0"/>
            <a:r>
              <a:rPr b="1"/>
              <a:t>Validação:</a:t>
            </a:r>
            <a:r>
              <a:rPr/>
              <a:t> avaliação do modelo durante o </a:t>
            </a:r>
            <a:r>
              <a:rPr i="1"/>
              <a:t>tuning</a:t>
            </a:r>
            <a:r>
              <a:rPr/>
              <a:t>.</a:t>
            </a:r>
          </a:p>
          <a:p>
            <a:pPr lvl="0"/>
            <a:r>
              <a:rPr b="1"/>
              <a:t>Teste:</a:t>
            </a:r>
            <a:r>
              <a:rPr/>
              <a:t> avaliação final do modelo usando dados de teste.</a:t>
            </a:r>
          </a:p>
          <a:p>
            <a:pPr lvl="0"/>
            <a:r>
              <a:rPr b="1"/>
              <a:t>Target (Alvo):</a:t>
            </a:r>
            <a:r>
              <a:rPr/>
              <a:t> variável dependente / alvo da predição.</a:t>
            </a:r>
          </a:p>
          <a:p>
            <a:pPr lvl="0"/>
            <a:r>
              <a:rPr b="1"/>
              <a:t>Feature (feição):</a:t>
            </a:r>
            <a:r>
              <a:rPr/>
              <a:t> variáveis preditoras/variáveis independentes.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Terminologia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Classificação:</a:t>
            </a:r>
            <a:r>
              <a:rPr/>
              <a:t> qualquer problema/modelo que produz resultados </a:t>
            </a:r>
            <a:r>
              <a:rPr i="1"/>
              <a:t>categóricos</a:t>
            </a:r>
            <a:r>
              <a:rPr/>
              <a:t>.</a:t>
            </a:r>
          </a:p>
          <a:p>
            <a:pPr lvl="0"/>
            <a:r>
              <a:rPr b="1"/>
              <a:t>Regressão:</a:t>
            </a:r>
            <a:r>
              <a:rPr/>
              <a:t> qualquer problema/modelo que produz resultados </a:t>
            </a:r>
            <a:r>
              <a:rPr i="1"/>
              <a:t>contínuos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No caso específico de visão computacional:</a:t>
            </a:r>
          </a:p>
        </p:txBody>
      </p:sp>
      <p:pic>
        <p:nvPicPr>
          <p:cNvPr descr="../figs/segvsclasvsdecjp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58900"/>
            <a:ext cx="51054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II - Aplicando Machine Learning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Machine learning no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 pacote </a:t>
            </a:r>
            <a:r>
              <a:rPr>
                <a:hlinkClick r:id="rId2"/>
                <a:latin typeface="Courier"/>
              </a:rPr>
              <a:t>tidymodels</a:t>
            </a:r>
          </a:p>
          <a:p>
            <a:pPr lvl="0"/>
            <a:r>
              <a:rPr/>
              <a:t>O livro </a:t>
            </a:r>
            <a:r>
              <a:rPr>
                <a:hlinkClick r:id="rId3"/>
              </a:rPr>
              <a:t>‘Tidy Models with R’</a:t>
            </a:r>
            <a:r>
              <a:rPr/>
              <a:t>.</a:t>
            </a:r>
          </a:p>
          <a:p>
            <a:pPr lvl="0"/>
            <a:r>
              <a:rPr/>
              <a:t>O livro mais antigo </a:t>
            </a:r>
            <a:r>
              <a:rPr>
                <a:hlinkClick r:id="rId4"/>
                <a:latin typeface="Courier"/>
              </a:rPr>
              <a:t>Applied Predictive Modeling with R</a:t>
            </a:r>
            <a:r>
              <a:rPr/>
              <a:t> ainda é bom para </a:t>
            </a:r>
            <a:r>
              <a:rPr i="1"/>
              <a:t>entender</a:t>
            </a:r>
            <a:r>
              <a:rPr/>
              <a:t> ML.</a:t>
            </a:r>
          </a:p>
          <a:p>
            <a:pPr lvl="0"/>
            <a:r>
              <a:rPr/>
              <a:t>O website do pacote Python </a:t>
            </a:r>
            <a:r>
              <a:rPr>
                <a:hlinkClick r:id="rId5"/>
              </a:rPr>
              <a:t>Scikit-learn</a:t>
            </a:r>
            <a:r>
              <a:rPr/>
              <a:t> é excelente para explicações sobre algoritmos específicos, independente da linguagem.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Os passos de uma análise de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strike="sngStrike"/>
              <a:t>Preparação dos dados</a:t>
            </a:r>
          </a:p>
          <a:p>
            <a:pPr lvl="0" indent="-342900" marL="342900">
              <a:buAutoNum type="arabicPeriod"/>
            </a:pPr>
            <a:r>
              <a:rPr strike="sngStrike"/>
              <a:t>Análise descritiva</a:t>
            </a:r>
          </a:p>
          <a:p>
            <a:pPr lvl="0" indent="-342900" marL="342900">
              <a:buAutoNum type="arabicPeriod"/>
            </a:pPr>
            <a:r>
              <a:rPr strike="sngStrike"/>
              <a:t>Visualização de dados</a:t>
            </a:r>
          </a:p>
          <a:p>
            <a:pPr lvl="0" indent="-342900" marL="342900">
              <a:buAutoNum type="arabicPeriod"/>
            </a:pPr>
            <a:r>
              <a:rPr b="1"/>
              <a:t>Divisão dos dados em </a:t>
            </a:r>
            <a:r>
              <a:rPr b="1" i="1"/>
              <a:t>treinamento</a:t>
            </a:r>
            <a:r>
              <a:rPr b="1"/>
              <a:t> e </a:t>
            </a:r>
            <a:r>
              <a:rPr b="1" i="1"/>
              <a:t>teste</a:t>
            </a:r>
          </a:p>
          <a:p>
            <a:pPr lvl="0" indent="-342900" marL="342900">
              <a:buAutoNum type="arabicPeriod"/>
            </a:pPr>
            <a:r>
              <a:rPr b="1"/>
              <a:t>Escolha do algoritmo</a:t>
            </a:r>
          </a:p>
          <a:p>
            <a:pPr lvl="0" indent="-342900" marL="342900">
              <a:buAutoNum type="arabicPeriod"/>
            </a:pPr>
            <a:r>
              <a:rPr b="1"/>
              <a:t>Otimização e validação do modelo</a:t>
            </a:r>
          </a:p>
          <a:p>
            <a:pPr lvl="0" indent="-342900" marL="342900">
              <a:buAutoNum type="arabicPeriod"/>
            </a:pPr>
            <a:r>
              <a:rPr b="1"/>
              <a:t>Teste do modelo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Algoritmos de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Existem literalmente dezenas de algoritmos de machine learning. Vamos focar nos mais comuns:</a:t>
            </a:r>
          </a:p>
          <a:p>
            <a:pPr lvl="0"/>
            <a:r>
              <a:rPr/>
              <a:t>Árvores de decisão (</a:t>
            </a:r>
            <a:r>
              <a:rPr i="1"/>
              <a:t>decision trees</a:t>
            </a:r>
            <a:r>
              <a:rPr/>
              <a:t>)</a:t>
            </a:r>
          </a:p>
          <a:p>
            <a:pPr lvl="0"/>
            <a:r>
              <a:rPr i="1"/>
              <a:t>Support Vector Machine</a:t>
            </a:r>
            <a:r>
              <a:rPr/>
              <a:t> (SVM)</a:t>
            </a:r>
          </a:p>
          <a:p>
            <a:pPr lvl="0"/>
            <a:r>
              <a:rPr/>
              <a:t>Métodos de </a:t>
            </a:r>
            <a:r>
              <a:rPr i="1"/>
              <a:t>Ensemble</a:t>
            </a:r>
            <a:r>
              <a:rPr/>
              <a:t>:</a:t>
            </a:r>
          </a:p>
          <a:p>
            <a:pPr lvl="1"/>
            <a:r>
              <a:rPr/>
              <a:t>Random Forests (</a:t>
            </a:r>
            <a:r>
              <a:rPr i="1"/>
              <a:t>bagging</a:t>
            </a:r>
            <a:r>
              <a:rPr/>
              <a:t>)</a:t>
            </a:r>
          </a:p>
          <a:p>
            <a:pPr lvl="1"/>
            <a:r>
              <a:rPr/>
              <a:t>LightGBM (</a:t>
            </a:r>
            <a:r>
              <a:rPr i="1"/>
              <a:t>boosting</a:t>
            </a:r>
            <a:r>
              <a:rPr/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Árvores de Decisão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dos métodos mais ‘básicos’ de ML. Suas vantagens são:</a:t>
            </a:r>
          </a:p>
          <a:p>
            <a:pPr lvl="0"/>
            <a:r>
              <a:rPr/>
              <a:t>Fáceis de compreender</a:t>
            </a:r>
          </a:p>
          <a:p>
            <a:pPr lvl="0"/>
            <a:r>
              <a:rPr/>
              <a:t>Robustos com relação aos dados</a:t>
            </a:r>
          </a:p>
          <a:p>
            <a:pPr lvl="0"/>
            <a:r>
              <a:rPr/>
              <a:t>Não-Paramétricos</a:t>
            </a:r>
          </a:p>
          <a:p>
            <a:pPr lvl="0"/>
            <a:r>
              <a:rPr/>
              <a:t>Funcionam pra Classificação e Regressão.</a:t>
            </a:r>
          </a:p>
          <a:p>
            <a:pPr lvl="0" indent="0" marL="0">
              <a:buNone/>
            </a:pPr>
            <a:r>
              <a:rPr/>
              <a:t>Desvantagens:</a:t>
            </a:r>
          </a:p>
          <a:p>
            <a:pPr lvl="0"/>
            <a:r>
              <a:rPr/>
              <a:t>Árvores de decisão são propensas ao </a:t>
            </a:r>
            <a:r>
              <a:rPr i="1"/>
              <a:t>overfitting</a:t>
            </a:r>
            <a:r>
              <a:rPr/>
              <a:t>, e requerem métodos de “poda” (</a:t>
            </a:r>
            <a:r>
              <a:rPr i="1"/>
              <a:t>pruning</a:t>
            </a:r>
            <a:r>
              <a:rPr/>
              <a:t>) para manter a generalidade.</a:t>
            </a:r>
          </a:p>
          <a:p>
            <a:pPr lvl="0"/>
            <a:r>
              <a:rPr/>
              <a:t>As predições não são contínuas.</a:t>
            </a:r>
          </a:p>
          <a:p>
            <a:pPr lvl="0"/>
            <a:r>
              <a:rPr/>
              <a:t>Sensíveis a dados desbalanceados.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Overfitting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Algoritmos de ML podem aprender “bem demais”. Isso é chamado de </a:t>
            </a:r>
            <a:r>
              <a:rPr i="1"/>
              <a:t>overfitting</a:t>
            </a:r>
            <a:r>
              <a:rPr/>
              <a:t> (ajuste excessivo). Normalmente detectado por uma acurácia alta durante a otimização, e baixa durante o teste.</a:t>
            </a:r>
          </a:p>
        </p:txBody>
      </p:sp>
      <p:pic>
        <p:nvPicPr>
          <p:cNvPr descr="../figs/Overfittin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71900" y="203200"/>
            <a:ext cx="47117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Dados desbalanceados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Quando uma ou mais classes dominam a quantidade de amostras sobre as outras.</a:t>
            </a:r>
          </a:p>
        </p:txBody>
      </p:sp>
      <p:pic>
        <p:nvPicPr>
          <p:cNvPr descr="aula_4_files/figure-pptx/imbalance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Árvores de Decisão</a:t>
            </a:r>
          </a:p>
        </p:txBody>
      </p:sp>
      <p:pic>
        <p:nvPicPr>
          <p:cNvPr descr="../figs/decision-tre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193800"/>
            <a:ext cx="615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https://www.youtube.com/watch?v=ZVR2Way4nwQ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Petal.Width</a:t>
            </a:r>
            <a:r>
              <a:rPr/>
              <a:t>,</a:t>
            </a:r>
            <a:r>
              <a:rPr>
                <a:latin typeface="Courier"/>
              </a:rPr>
              <a:t>Petal.Lenght</a:t>
            </a:r>
            <a:r>
              <a:rPr/>
              <a:t>,</a:t>
            </a:r>
            <a:r>
              <a:rPr>
                <a:latin typeface="Courier"/>
              </a:rPr>
              <a:t>Sepal.Width</a:t>
            </a:r>
            <a:r>
              <a:rPr/>
              <a:t>,</a:t>
            </a:r>
            <a:r>
              <a:rPr>
                <a:latin typeface="Courier"/>
              </a:rPr>
              <a:t>Sepal.Length</a:t>
            </a:r>
            <a:r>
              <a:rPr/>
              <a:t> são as nossas </a:t>
            </a:r>
            <a:r>
              <a:rPr i="1"/>
              <a:t>features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  Sepal.Length Sepal.Width Petal.Length Petal.Width Species
1          5.1         3.5          1.4         0.2  setosa
2          4.9         3.0          1.4         0.2  setosa
3          4.7         3.2          1.3         0.2  setosa
4          4.6         3.1          1.5         0.2  setosa
5          5.0         3.6          1.4         0.2  setosa
6          5.4         3.9          1.7         0.4  setosa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Nosso nó inicial contém todas as amostras. Queremos achar um limiar para um dos quatro </a:t>
            </a:r>
            <a:r>
              <a:rPr i="1"/>
              <a:t>features</a:t>
            </a:r>
            <a:r>
              <a:rPr/>
              <a:t> que maximiza a separação entre os grupos.</a:t>
            </a:r>
          </a:p>
          <a:p>
            <a:pPr lvl="0" indent="0" marL="0">
              <a:buNone/>
            </a:pPr>
            <a:r>
              <a:rPr/>
              <a:t>Como ‘medir’ essa separação?</a:t>
            </a:r>
          </a:p>
          <a:p>
            <a:pPr lvl="0" indent="0" marL="0">
              <a:buNone/>
            </a:pPr>
            <a:r>
              <a:rPr b="1"/>
              <a:t>Pureza do Nó (Node Purity):</a:t>
            </a:r>
            <a:r>
              <a:rPr/>
              <a:t> quão ‘misturado’ é o dataset após a separação?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Exemplos (C = número de classes):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Índice de Pureza de Gini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G</m:t>
                    </m:r>
                    <m:r>
                      <m:t>i</m:t>
                    </m:r>
                    <m:r>
                      <m:t>n</m:t>
                    </m:r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*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</a:p>
              <a:p>
                <a:pPr lvl="0"/>
                <a:r>
                  <a:rPr/>
                  <a:t>Máximo de Pureza: 0</a:t>
                </a:r>
              </a:p>
              <a:p>
                <a:pPr lvl="0"/>
                <a:r>
                  <a:rPr/>
                  <a:t>Mínimo: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C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Índice de Entropia de Shannon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p</m:t>
                    </m:r>
                    <m:r>
                      <m:t>i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C</m:t>
                        </m:r>
                      </m:sup>
                      <m:e>
                        <m:sSub>
                          <m:e>
                            <m:r>
                              <m:t>p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*</m:t>
                        </m:r>
                        <m:r>
                          <m:t>l</m:t>
                        </m:r>
                        <m:r>
                          <m:t>o</m:t>
                        </m:r>
                        <m:r>
                          <m:t>g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sSub>
                              <m:e>
                                <m:r>
                                  <m:t>p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</a:p>
              <a:p>
                <a:pPr lvl="0"/>
                <a:r>
                  <a:rPr/>
                  <a:t>Mínimo de Entropia: 0</a:t>
                </a:r>
              </a:p>
              <a:p>
                <a:pPr lvl="0"/>
                <a:r>
                  <a:rPr/>
                  <a:t>Máximo: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t>o</m:t>
                    </m:r>
                    <m:r>
                      <m:t>g</m:t>
                    </m:r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C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Então podemos testar diferentes limiares de separação para diferentes </a:t>
            </a:r>
            <a:r>
              <a:rPr i="1"/>
              <a:t>features</a:t>
            </a:r>
            <a:r>
              <a:rPr/>
              <a:t>, e escolher aquele que maximiza a pureza (minimiza o índice Gini).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pic>
        <p:nvPicPr>
          <p:cNvPr descr="aula_4_files/figure-pptx/ggpairsiri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separar a espécie </a:t>
            </a:r>
            <a:r>
              <a:rPr i="1"/>
              <a:t>setosa</a:t>
            </a:r>
            <a:r>
              <a:rPr/>
              <a:t>, basta um limiar de </a:t>
            </a:r>
            <a:r>
              <a:rPr>
                <a:latin typeface="Courier"/>
              </a:rPr>
              <a:t>Petal.Length &gt; 2.5</a:t>
            </a:r>
            <a:r>
              <a:rPr/>
              <a:t>.</a:t>
            </a:r>
          </a:p>
        </p:txBody>
      </p:sp>
      <p:pic>
        <p:nvPicPr>
          <p:cNvPr descr="aula_4_files/figure-pptx/ggplotiris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Diferenciação entre </a:t>
            </a:r>
            <a:r>
              <a:rPr i="1"/>
              <a:t>versicolor</a:t>
            </a:r>
            <a:r>
              <a:rPr/>
              <a:t> e </a:t>
            </a:r>
            <a:r>
              <a:rPr i="1"/>
              <a:t>virginica</a:t>
            </a:r>
            <a:r>
              <a:rPr/>
              <a:t> é mais complexa. Pra isso serve o computador!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(rpart)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(rpart.plot)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model1 &lt;- </a:t>
            </a:r>
            <a:r>
              <a:rPr>
                <a:solidFill>
                  <a:srgbClr val="4758AB"/>
                </a:solidFill>
                <a:latin typeface="Courier"/>
              </a:rPr>
              <a:t>rpart</a:t>
            </a:r>
            <a:r>
              <a:rPr>
                <a:solidFill>
                  <a:srgbClr val="003B4F"/>
                </a:solidFill>
                <a:latin typeface="Courier"/>
              </a:rPr>
              <a:t>(Species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"class"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rpart.plot</a:t>
            </a:r>
            <a:r>
              <a:rPr>
                <a:solidFill>
                  <a:srgbClr val="003B4F"/>
                </a:solidFill>
                <a:latin typeface="Courier"/>
              </a:rPr>
              <a:t>(model1, </a:t>
            </a:r>
            <a:r>
              <a:rPr>
                <a:solidFill>
                  <a:srgbClr val="657422"/>
                </a:solidFill>
                <a:latin typeface="Courier"/>
              </a:rPr>
              <a:t>box.palette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"RdBu"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shadow.col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"gray"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657422"/>
                </a:solidFill>
                <a:latin typeface="Courier"/>
              </a:rPr>
              <a:t>fallen.leaves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aula_4_files/figure-pptx/plotrpart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pic>
        <p:nvPicPr>
          <p:cNvPr descr="aula_4_files/figure-pptx/rpartdecbound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Poderíamos ir além?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model2 &lt;- </a:t>
            </a:r>
            <a:r>
              <a:rPr>
                <a:solidFill>
                  <a:srgbClr val="4758AB"/>
                </a:solidFill>
                <a:latin typeface="Courier"/>
              </a:rPr>
              <a:t>rpart</a:t>
            </a:r>
            <a:r>
              <a:rPr>
                <a:solidFill>
                  <a:srgbClr val="003B4F"/>
                </a:solidFill>
                <a:latin typeface="Courier"/>
              </a:rPr>
              <a:t>(Species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iris,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"class"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control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rpart.control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minsplit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pic>
        <p:nvPicPr>
          <p:cNvPr descr="aula_4_files/figure-pptx/rpartoverfit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Classificando o dataset </a:t>
            </a:r>
            <a:r>
              <a:rPr i="1"/>
              <a:t>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Nesse novo modelo, mudamos dois </a:t>
            </a:r>
            <a:r>
              <a:rPr i="1"/>
              <a:t>hiperparâmetros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cp</a:t>
            </a:r>
            <a:r>
              <a:rPr/>
              <a:t>: controla o grau de complexidade da árvore</a:t>
            </a:r>
          </a:p>
          <a:p>
            <a:pPr lvl="0"/>
            <a:r>
              <a:rPr>
                <a:latin typeface="Courier"/>
              </a:rPr>
              <a:t>minsplit</a:t>
            </a:r>
            <a:r>
              <a:rPr/>
              <a:t>: numero mínimo de observações após uma separação.</a:t>
            </a:r>
          </a:p>
          <a:p>
            <a:pPr lvl="0" indent="0">
              <a:buNone/>
            </a:pPr>
            <a:r>
              <a:rPr>
                <a:latin typeface="Courier"/>
              </a:rPr>
              <a:t>[1] "Acurácia M1 (cp = 0.01, minsplit = 20): 96%"</a:t>
            </a:r>
          </a:p>
          <a:p>
            <a:pPr lvl="0" indent="0">
              <a:buNone/>
            </a:pPr>
            <a:r>
              <a:rPr>
                <a:latin typeface="Courier"/>
              </a:rPr>
              <a:t>[1] "Acurácia M2 (cp = 0, minsplit = 2 ): 100%"</a:t>
            </a:r>
          </a:p>
          <a:p>
            <a:pPr lvl="0" indent="0" marL="0">
              <a:buNone/>
            </a:pPr>
            <a:r>
              <a:rPr/>
              <a:t>Qual o melhor modelo?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árvores para florestas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árvores de decisào funcionam bem com problemas simples, mas:</a:t>
            </a:r>
          </a:p>
          <a:p>
            <a:pPr lvl="0"/>
            <a:r>
              <a:rPr/>
              <a:t>Perdem eficiência em problemas complexos</a:t>
            </a:r>
          </a:p>
          <a:p>
            <a:pPr lvl="0"/>
            <a:r>
              <a:rPr/>
              <a:t>Tem uma grande tendência ao overfitting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 Forests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Random Forests (Florestas Aleatórias):</a:t>
            </a:r>
            <a:r>
              <a:rPr/>
              <a:t> um modo de deixar o uso de árvores de decisão mais robusto e poderoso.</a:t>
            </a:r>
          </a:p>
          <a:p>
            <a:pPr lvl="0" indent="0" marL="0">
              <a:buNone/>
            </a:pPr>
            <a:r>
              <a:rPr/>
              <a:t>Criado por Leo Breiman em 2001: </a:t>
            </a:r>
            <a:r>
              <a:rPr>
                <a:hlinkClick r:id="rId2"/>
              </a:rPr>
              <a:t>https://doi.org/10.1023/A:1010933404324</a:t>
            </a:r>
          </a:p>
        </p:txBody>
      </p:sp>
      <p:pic>
        <p:nvPicPr>
          <p:cNvPr descr="../figs/RF_citations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841500"/>
            <a:ext cx="5105400" cy="111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ideia é incrivelmente simples:</a:t>
            </a:r>
          </a:p>
          <a:p>
            <a:pPr lvl="0"/>
            <a:r>
              <a:rPr/>
              <a:t>Ao invés de uma árvore gigante, crie diversas pequenas árvores</a:t>
            </a:r>
          </a:p>
          <a:p>
            <a:pPr lvl="0"/>
            <a:r>
              <a:rPr/>
              <a:t>Cada árvore prevê corretamente só uma pequena parte dos dados (</a:t>
            </a:r>
            <a:r>
              <a:rPr i="1"/>
              <a:t>weak learner</a:t>
            </a:r>
            <a:r>
              <a:rPr/>
              <a:t>)</a:t>
            </a:r>
          </a:p>
          <a:p>
            <a:pPr lvl="0"/>
            <a:r>
              <a:rPr/>
              <a:t>A classificação/regressão final é o </a:t>
            </a:r>
            <a:r>
              <a:rPr i="1"/>
              <a:t>consenso</a:t>
            </a:r>
            <a:r>
              <a:rPr/>
              <a:t> entre todas as árvores.</a:t>
            </a:r>
          </a:p>
          <a:p>
            <a:pPr lvl="0"/>
            <a:r>
              <a:rPr/>
              <a:t>Em ML, essa técnica é chamada de </a:t>
            </a:r>
            <a:r>
              <a:rPr i="1"/>
              <a:t>bagging</a:t>
            </a:r>
            <a:r>
              <a:rPr/>
              <a:t> (bootstrap + aggregation).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Esse ‘truque’ de usar vários modelos para gerar uma predição final é chamado de </a:t>
            </a:r>
            <a:r>
              <a:rPr i="1"/>
              <a:t>ensemble</a:t>
            </a:r>
            <a:r>
              <a:rPr/>
              <a:t> (conjunto).</a:t>
            </a:r>
          </a:p>
          <a:p>
            <a:pPr lvl="0" indent="0" marL="0">
              <a:buNone/>
            </a:pPr>
            <a:r>
              <a:rPr/>
              <a:t>Ele pode ser também utilizado para combinar resultados de diferentes algoritmos, buscando assim maior robustez.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https://www.youtube.com/watch?v=v6VJ2RO66Ag&amp;t=61s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algoritmo </a:t>
            </a:r>
            <a:r>
              <a:rPr i="1"/>
              <a:t>Random Forest</a:t>
            </a:r>
            <a:r>
              <a:rPr/>
              <a:t> é extremamente robusto e poderoso, e fácil de treinar e otimizar. Os principais </a:t>
            </a:r>
            <a:r>
              <a:rPr i="1"/>
              <a:t>hiperparâmetros</a:t>
            </a:r>
            <a:r>
              <a:rPr/>
              <a:t> a ser otimizados são:</a:t>
            </a:r>
          </a:p>
          <a:p>
            <a:pPr lvl="0"/>
            <a:r>
              <a:rPr b="1">
                <a:latin typeface="Courier"/>
              </a:rPr>
              <a:t>n_estimators</a:t>
            </a:r>
            <a:r>
              <a:rPr/>
              <a:t>: quantas árvores? Mais árvores = melhores modelos = maior tempo de computação.</a:t>
            </a:r>
          </a:p>
          <a:p>
            <a:pPr lvl="0"/>
            <a:r>
              <a:rPr b="1">
                <a:latin typeface="Courier"/>
              </a:rPr>
              <a:t>max_features</a:t>
            </a:r>
            <a:r>
              <a:rPr b="1"/>
              <a:t>:</a:t>
            </a:r>
            <a:r>
              <a:rPr/>
              <a:t> o número máximo de features considerado a cada separação, O padrão é </a:t>
            </a:r>
            <a:r>
              <a:rPr>
                <a:latin typeface="Courier"/>
              </a:rPr>
              <a:t>sqrt(total_features)</a:t>
            </a:r>
            <a:r>
              <a:rPr/>
              <a:t>. Serve para criar árvores mais diferentes.</a:t>
            </a:r>
          </a:p>
          <a:p>
            <a:pPr lvl="0"/>
            <a:r>
              <a:rPr>
                <a:latin typeface="Courier"/>
              </a:rPr>
              <a:t>max_depth</a:t>
            </a:r>
            <a:r>
              <a:rPr/>
              <a:t>:** profundidade máxima de cada árvore (reduz overfitting)</a:t>
            </a:r>
          </a:p>
          <a:p>
            <a:pPr lvl="0"/>
            <a:r>
              <a:rPr>
                <a:latin typeface="Courier"/>
              </a:rPr>
              <a:t>min_samples_split</a:t>
            </a:r>
            <a:r>
              <a:rPr/>
              <a:t>: número mínimo de amostras que um nó deve ter pra ser considerado pra mais uma separação.</a:t>
            </a:r>
          </a:p>
          <a:p>
            <a:pPr lvl="0"/>
            <a:r>
              <a:rPr>
                <a:latin typeface="Courier"/>
              </a:rPr>
              <a:t>min_samples_leaf</a:t>
            </a:r>
            <a:r>
              <a:rPr/>
              <a:t>: número mínimo de amostras nas folhas (nós terminais).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exemplo usando o pacote </a:t>
            </a:r>
            <a:r>
              <a:rPr>
                <a:latin typeface="Courier"/>
              </a:rPr>
              <a:t>ranger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Existem mais de um pacote no </a:t>
            </a:r>
            <a:r>
              <a:rPr>
                <a:latin typeface="Courier"/>
              </a:rPr>
              <a:t>R</a:t>
            </a:r>
            <a:r>
              <a:rPr/>
              <a:t> que implementam o Random Forest:</a:t>
            </a:r>
          </a:p>
          <a:p>
            <a:pPr lvl="0"/>
            <a:r>
              <a:rPr>
                <a:latin typeface="Courier"/>
              </a:rPr>
              <a:t>ranger</a:t>
            </a:r>
          </a:p>
          <a:p>
            <a:pPr lvl="0"/>
            <a:r>
              <a:rPr>
                <a:latin typeface="Courier"/>
              </a:rPr>
              <a:t>randomForest</a:t>
            </a:r>
          </a:p>
          <a:p>
            <a:pPr lvl="0"/>
            <a:r>
              <a:rPr>
                <a:latin typeface="Courier"/>
              </a:rPr>
              <a:t>partykit</a:t>
            </a:r>
          </a:p>
          <a:p>
            <a:pPr lvl="0"/>
            <a:r>
              <a:rPr>
                <a:latin typeface="Courier"/>
              </a:rPr>
              <a:t>aorsf</a:t>
            </a:r>
          </a:p>
          <a:p>
            <a:pPr lvl="0" indent="0" marL="0">
              <a:buNone/>
            </a:pPr>
            <a:r>
              <a:rPr/>
              <a:t>Vamos usar o pacote </a:t>
            </a:r>
            <a:r>
              <a:rPr>
                <a:latin typeface="Courier"/>
              </a:rPr>
              <a:t>ranger</a:t>
            </a:r>
            <a:r>
              <a:rPr/>
              <a:t> para um exemplo.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Quais dados vamos modelar?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Breast Cancer Winsconsin:</a:t>
            </a:r>
            <a:r>
              <a:rPr/>
              <a:t> um dataset com dados reais derivados de imagens de células cancerígenas, utilizados para diagnosticar entre maligno/benigno.</a:t>
            </a:r>
          </a:p>
          <a:p>
            <a:pPr lvl="0" indent="0" marL="0">
              <a:buNone/>
            </a:pPr>
            <a:r>
              <a:rPr/>
              <a:t>Disponível no R no pacote </a:t>
            </a:r>
            <a:r>
              <a:rPr>
                <a:latin typeface="Courier"/>
              </a:rPr>
              <a:t>mlbench</a:t>
            </a:r>
            <a:r>
              <a:rPr/>
              <a:t>, um pacote com vários datasets clássicos usados como </a:t>
            </a:r>
            <a:r>
              <a:rPr i="1"/>
              <a:t>benchmark</a:t>
            </a:r>
            <a:r>
              <a:rPr/>
              <a:t> no mundo do ML.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Breast Cancer Wisconsin (Diagnostic)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Quais dados vamos modelar?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data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"BreastCancer"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package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"mlbench"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(BreastCancer)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(BreastCancer)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Primeiro Passo - Inspecionando os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(GGAlly)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(BreastCancer)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ggpairs</a:t>
            </a:r>
            <a:r>
              <a:rPr>
                <a:solidFill>
                  <a:srgbClr val="003B4F"/>
                </a:solidFill>
                <a:latin typeface="Courier"/>
              </a:rPr>
              <a:t>(BreastCancer, </a:t>
            </a:r>
            <a:r>
              <a:rPr>
                <a:solidFill>
                  <a:srgbClr val="657422"/>
                </a:solidFill>
                <a:latin typeface="Courier"/>
              </a:rPr>
              <a:t>columns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ggpairs</a:t>
            </a:r>
            <a:r>
              <a:rPr>
                <a:solidFill>
                  <a:srgbClr val="003B4F"/>
                </a:solidFill>
                <a:latin typeface="Courier"/>
              </a:rPr>
              <a:t>(BreastCancer, </a:t>
            </a:r>
            <a:r>
              <a:rPr>
                <a:solidFill>
                  <a:srgbClr val="657422"/>
                </a:solidFill>
                <a:latin typeface="Courier"/>
              </a:rPr>
              <a:t>columns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Segundo Passo - Separando os dados em treino e teste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(BreastCancer)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row_inds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(BreastCancer))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train_inds &lt;- 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(row_inds,</a:t>
            </a:r>
            <a:r>
              <a:rPr>
                <a:solidFill>
                  <a:srgbClr val="AD0000"/>
                </a:solidFill>
                <a:latin typeface="Courier"/>
              </a:rPr>
              <a:t>490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replace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train_df &lt;- BreastCancer[train_inds,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BreastCancer[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train_inds,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Terceiro Passo - Ajuste do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(ranger)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m1 &lt;- </a:t>
            </a:r>
            <a:r>
              <a:rPr>
                <a:solidFill>
                  <a:srgbClr val="4758AB"/>
                </a:solidFill>
                <a:latin typeface="Courier"/>
              </a:rPr>
              <a:t>ranger</a:t>
            </a:r>
            <a:r>
              <a:rPr>
                <a:solidFill>
                  <a:srgbClr val="003B4F"/>
                </a:solidFill>
                <a:latin typeface="Courier"/>
              </a:rPr>
              <a:t>(Class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train_df)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prediction.error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passo - otimização do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tune_df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numtree_vals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error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tune_df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for(n in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(tune_df))){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temp_mod &lt;- </a:t>
            </a:r>
            <a:r>
              <a:rPr>
                <a:solidFill>
                  <a:srgbClr val="4758AB"/>
                </a:solidFill>
                <a:latin typeface="Courier"/>
              </a:rPr>
              <a:t>ranger</a:t>
            </a:r>
            <a:r>
              <a:rPr>
                <a:solidFill>
                  <a:srgbClr val="003B4F"/>
                </a:solidFill>
                <a:latin typeface="Courier"/>
              </a:rPr>
              <a:t>(Class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train_df,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num.trees =</a:t>
            </a:r>
            <a:r>
              <a:rPr>
                <a:solidFill>
                  <a:srgbClr val="003B4F"/>
                </a:solidFill>
                <a:latin typeface="Courier"/>
              </a:rPr>
              <a:t> tune_df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numtree_vals[n])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tune_df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error[n] &lt;- temp_mod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prediction.error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tune_df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passo - otimização do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tune_df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numtree_vals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mtry_vals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each=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error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tune_df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for(n in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(tune_df))){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temp_mod &lt;- </a:t>
            </a:r>
            <a:r>
              <a:rPr>
                <a:solidFill>
                  <a:srgbClr val="4758AB"/>
                </a:solidFill>
                <a:latin typeface="Courier"/>
              </a:rPr>
              <a:t>ranger</a:t>
            </a:r>
            <a:r>
              <a:rPr>
                <a:solidFill>
                  <a:srgbClr val="003B4F"/>
                </a:solidFill>
                <a:latin typeface="Courier"/>
              </a:rPr>
              <a:t>(Class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train_df,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num.trees =</a:t>
            </a:r>
            <a:r>
              <a:rPr>
                <a:solidFill>
                  <a:srgbClr val="003B4F"/>
                </a:solidFill>
                <a:latin typeface="Courier"/>
              </a:rPr>
              <a:t> tune_df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numtree_vals[n],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mtry =</a:t>
            </a:r>
            <a:r>
              <a:rPr>
                <a:solidFill>
                  <a:srgbClr val="003B4F"/>
                </a:solidFill>
                <a:latin typeface="Courier"/>
              </a:rPr>
              <a:t> tune_df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mtry_vals[n])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tune_df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error[n] &lt;- temp_mod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prediction.error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tune_df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which</a:t>
            </a:r>
            <a:r>
              <a:rPr>
                <a:solidFill>
                  <a:srgbClr val="003B4F"/>
                </a:solidFill>
                <a:latin typeface="Courier"/>
              </a:rPr>
              <a:t>(tune_df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error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(tune_df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error))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tune_df[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,]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Quinto Passo - Teste do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final_mod &lt;- </a:t>
            </a:r>
            <a:r>
              <a:rPr>
                <a:solidFill>
                  <a:srgbClr val="4758AB"/>
                </a:solidFill>
                <a:latin typeface="Courier"/>
              </a:rPr>
              <a:t>ranger</a:t>
            </a:r>
            <a:r>
              <a:rPr>
                <a:solidFill>
                  <a:srgbClr val="003B4F"/>
                </a:solidFill>
                <a:latin typeface="Courier"/>
              </a:rPr>
              <a:t>(Class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.,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train_df,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num.trees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mtry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pred &lt;- </a:t>
            </a:r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(final_mod,test_df)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conf_mat &lt;- </a:t>
            </a: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(test_df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Class, pred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predictions)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acuracia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diag</a:t>
            </a:r>
            <a:r>
              <a:rPr>
                <a:solidFill>
                  <a:srgbClr val="003B4F"/>
                </a:solidFill>
                <a:latin typeface="Courier"/>
              </a:rPr>
              <a:t>(conf_mat))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(conf_mat)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erro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acuracia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Parte III - Conceitos Adicionais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set.seed()</a:t>
            </a:r>
            <a:r>
              <a:rPr/>
              <a:t>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comando </a:t>
            </a:r>
            <a:r>
              <a:rPr>
                <a:latin typeface="Courier"/>
              </a:rPr>
              <a:t>set.seed()</a:t>
            </a:r>
            <a:r>
              <a:rPr/>
              <a:t> fixa a ‘semente’ do gerador de números aleatórios.</a:t>
            </a:r>
          </a:p>
          <a:p>
            <a:pPr lvl="0"/>
            <a:r>
              <a:rPr/>
              <a:t>É muito dificil criar um mecanismo computacional para gerar números realmente aleatórios.</a:t>
            </a:r>
          </a:p>
          <a:p>
            <a:pPr lvl="0"/>
            <a:r>
              <a:rPr/>
              <a:t>Computadores usam algoritmos que geram números </a:t>
            </a:r>
            <a:r>
              <a:rPr i="1"/>
              <a:t>pseudo-aleatórios</a:t>
            </a:r>
            <a:r>
              <a:rPr/>
              <a:t>.</a:t>
            </a:r>
          </a:p>
          <a:p>
            <a:pPr lvl="0"/>
            <a:r>
              <a:rPr/>
              <a:t>A partir de um valor inicial, aplicam uma série de cálculos instáveis, que resultam em números completamente diferentes mesmo se a semente for bem similar.</a:t>
            </a:r>
          </a:p>
          <a:p>
            <a:pPr lvl="0"/>
            <a:r>
              <a:rPr/>
              <a:t>Sem uma especificação de semente, o computador usa o horário como semente.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set.seed()</a:t>
            </a:r>
            <a:r>
              <a:rPr/>
              <a:t>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0.9148060 0.9370754 0.2861395 0.8304476 0.6417455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0.48503768 0.91076604 0.05767389 0.70539841 0.31349510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set.seed()</a:t>
            </a:r>
            <a:r>
              <a:rPr/>
              <a:t>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Especificar o </a:t>
            </a:r>
            <a:r>
              <a:rPr>
                <a:latin typeface="Courier"/>
              </a:rPr>
              <a:t>set.seed()</a:t>
            </a:r>
            <a:r>
              <a:rPr/>
              <a:t> garante a reprodutibilidade dos resultados.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Engenharia de feições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Pré-processamento das feições para melhorar a performance do modelo:</a:t>
            </a:r>
          </a:p>
          <a:p>
            <a:pPr lvl="0"/>
            <a:r>
              <a:rPr/>
              <a:t>Normalização/Padronização: equaliza a escala entre as feições contínuas.</a:t>
            </a:r>
          </a:p>
          <a:p>
            <a:pPr lvl="0"/>
            <a:r>
              <a:rPr/>
              <a:t>Transformações não-lineares: logaritmos, raízes, potências.</a:t>
            </a:r>
          </a:p>
          <a:p>
            <a:pPr lvl="0"/>
            <a:r>
              <a:rPr/>
              <a:t>Combinações de variáveis: multiplicações, razões. Ex. NDVI.</a:t>
            </a:r>
          </a:p>
          <a:p>
            <a:pPr lvl="0"/>
            <a:r>
              <a:rPr/>
              <a:t>Desmembramento de variáveis: separa informações complexas, como decompor datas em dia, mês, ano, semestre, trimestre, etc.</a:t>
            </a:r>
          </a:p>
          <a:p>
            <a:pPr lvl="0"/>
            <a:r>
              <a:rPr i="1"/>
              <a:t>One-Hot Encoding</a:t>
            </a:r>
            <a:r>
              <a:rPr/>
              <a:t>: converter variáveis categóricas em variáveis </a:t>
            </a:r>
            <a:r>
              <a:rPr i="1"/>
              <a:t>dummy</a:t>
            </a:r>
            <a:r>
              <a:rPr/>
              <a:t> numéricas.</a:t>
            </a:r>
          </a:p>
          <a:p>
            <a:pPr lvl="0"/>
            <a:r>
              <a:rPr i="1"/>
              <a:t>Label Encoding</a:t>
            </a:r>
            <a:r>
              <a:rPr/>
              <a:t>: substuir categorias por números inteiros (menos importante no R).</a:t>
            </a:r>
          </a:p>
          <a:p>
            <a:pPr lvl="0"/>
            <a:r>
              <a:rPr/>
              <a:t>Imputação: preenchimento de valores vazios usando alguma regra.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Otimizando o modelo - validação cruzada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Sempre queremos testar o modelo com dados ‘novos’.</a:t>
            </a:r>
          </a:p>
          <a:p>
            <a:pPr lvl="0"/>
            <a:r>
              <a:rPr/>
              <a:t>A separação entre treino e teste já sacrifica parte dos dados.</a:t>
            </a:r>
          </a:p>
          <a:p>
            <a:pPr lvl="0"/>
            <a:r>
              <a:rPr/>
              <a:t>Se precisarmos separar a amostra de treino de novo entre treino e validação, perdemos ainda mais.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Otimizando o modelo - validação cruzada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k- (ou v-) fold cross validation</a:t>
            </a:r>
            <a:r>
              <a:rPr/>
              <a:t>: separação dos dados de treino em ‘blocos’ (</a:t>
            </a:r>
            <a:r>
              <a:rPr i="1"/>
              <a:t>folds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Ex: 5-fold cross-validation</a:t>
            </a:r>
          </a:p>
          <a:p>
            <a:pPr lvl="0" indent="-342900" marL="342900">
              <a:buAutoNum type="arabicPeriod"/>
            </a:pPr>
            <a:r>
              <a:rPr/>
              <a:t>Divida os dados de treino aleatoriamente em 5 blocos iguais.</a:t>
            </a:r>
          </a:p>
          <a:p>
            <a:pPr lvl="0" indent="-342900" marL="342900">
              <a:buAutoNum type="arabicPeriod"/>
            </a:pPr>
            <a:r>
              <a:rPr/>
              <a:t>Junte quatro dos blocos em uma tablela e ajuste o modelo.</a:t>
            </a:r>
          </a:p>
          <a:p>
            <a:pPr lvl="0" indent="-342900" marL="342900">
              <a:buAutoNum type="arabicPeriod"/>
            </a:pPr>
            <a:r>
              <a:rPr/>
              <a:t>Use o quinto bloco para validar o modelo, calculando uma métrica de erro.</a:t>
            </a:r>
          </a:p>
          <a:p>
            <a:pPr lvl="0" indent="-342900" marL="342900">
              <a:buAutoNum type="arabicPeriod"/>
            </a:pPr>
            <a:r>
              <a:rPr/>
              <a:t>Repita mais 4 vezes, cada vez deixando um bloco de fora.</a:t>
            </a:r>
          </a:p>
          <a:p>
            <a:pPr lvl="0" indent="-342900" marL="342900">
              <a:buAutoNum type="arabicPeriod"/>
            </a:pPr>
            <a:r>
              <a:rPr/>
              <a:t>Faça a média dos 5 erros calculados.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Otimizando o modelo - validação cruzada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Vantagens:</a:t>
            </a:r>
          </a:p>
          <a:p>
            <a:pPr lvl="0"/>
            <a:r>
              <a:rPr/>
              <a:t>Todos os dados de treino são usados para treino e para validação.</a:t>
            </a:r>
          </a:p>
          <a:p>
            <a:pPr lvl="0"/>
            <a:r>
              <a:rPr/>
              <a:t>A cada combinação de hiperparametros testada, você estima um erro </a:t>
            </a:r>
            <a:r>
              <a:rPr b="1"/>
              <a:t>médio</a:t>
            </a:r>
            <a:r>
              <a:rPr/>
              <a:t>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Otimizando o modelo - validação cruzada</a:t>
            </a:r>
          </a:p>
        </p:txBody>
      </p:sp>
      <p:pic>
        <p:nvPicPr>
          <p:cNvPr descr="../figs/cross_valid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9200" y="1193800"/>
            <a:ext cx="416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https://scikit-learn.org/stable/modules/cross_validation.html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Alternativa: </a:t>
            </a:r>
            <a:r>
              <a:rPr i="1"/>
              <a:t>jacknife</a:t>
            </a:r>
            <a:r>
              <a:rPr/>
              <a:t> ou </a:t>
            </a:r>
            <a:r>
              <a:rPr i="1"/>
              <a:t>LOOCV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Leave-One-Out Cross Validation (LOOCV):</a:t>
                </a:r>
                <a:r>
                  <a:rPr/>
                  <a:t>também conhecido como </a:t>
                </a:r>
                <a:r>
                  <a:rPr i="1"/>
                  <a:t>jacknife</a:t>
                </a:r>
                <a:r>
                  <a:rPr/>
                  <a:t>. Assumindo que você tem $N% observações, o procedimento é:</a:t>
                </a:r>
              </a:p>
              <a:p>
                <a:pPr lvl="0" indent="-342900" marL="342900">
                  <a:buAutoNum type="arabicParenR"/>
                </a:pPr>
                <a:r>
                  <a:rPr/>
                  <a:t>Retire a observação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da tabela.</a:t>
                </a:r>
              </a:p>
              <a:p>
                <a:pPr lvl="0" indent="-342900" marL="342900">
                  <a:buAutoNum type="arabicParenR"/>
                </a:pPr>
                <a:r>
                  <a:rPr/>
                  <a:t>Ajuste o modelo com as observações restantes.</a:t>
                </a:r>
              </a:p>
              <a:p>
                <a:pPr lvl="0" indent="-342900" marL="342900">
                  <a:buAutoNum type="arabicParenR"/>
                </a:pPr>
                <a:r>
                  <a:rPr/>
                  <a:t>Faça a predição da obs que ficou fora e calcule o erro.</a:t>
                </a:r>
              </a:p>
              <a:p>
                <a:pPr lvl="0" indent="-342900" marL="342900">
                  <a:buAutoNum type="arabicParenR"/>
                </a:pPr>
                <a:r>
                  <a:rPr/>
                  <a:t>Repita para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</m:oMath>
                </a14:m>
                <a:r>
                  <a:rPr/>
                  <a:t>.</a:t>
                </a:r>
              </a:p>
              <a:p>
                <a:pPr lvl="0" indent="-342900" marL="342900">
                  <a:buAutoNum type="arabicParenR"/>
                </a:pPr>
                <a:r>
                  <a:rPr/>
                  <a:t>Faça a média dos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erros.</a:t>
                </a:r>
              </a:p>
              <a:p>
                <a:pPr lvl="0" indent="0" marL="0">
                  <a:buNone/>
                </a:pPr>
                <a:r>
                  <a:rPr/>
                  <a:t>Útil quando o dataset é pequeno, mas custoso computacionalmente se o dataset é grande.</a:t>
                </a:r>
              </a:p>
            </p:txBody>
          </p:sp>
        </mc:Choice>
      </mc:AlternateContent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Métricas de Erro/Acurácia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Quantificar o erro de predição é um dos aspectos essencias do processo de ML.</a:t>
            </a:r>
          </a:p>
          <a:p>
            <a:pPr lvl="0"/>
            <a:r>
              <a:rPr/>
              <a:t>Como se o modelo fosse uma prova, e a métrica fosse a nota da prova.</a:t>
            </a:r>
          </a:p>
          <a:p>
            <a:pPr lvl="0"/>
            <a:r>
              <a:rPr/>
              <a:t>Quando melhor a nota, maior o aprendizado (em teoria)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Métricas de Erro/Acurácia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Existem dezenas de métricas de erro, vamos focar apenas em algumas. Também são chamadas de </a:t>
            </a:r>
            <a:r>
              <a:rPr i="1"/>
              <a:t>loss functions</a:t>
            </a:r>
            <a:r>
              <a:rPr/>
              <a:t> ou </a:t>
            </a:r>
            <a:r>
              <a:rPr i="1"/>
              <a:t>scoring functions</a:t>
            </a:r>
            <a:r>
              <a:rPr/>
              <a:t>.</a:t>
            </a:r>
          </a:p>
          <a:p>
            <a:pPr lvl="0"/>
            <a:r>
              <a:rPr/>
              <a:t>Acurácia Simples</a:t>
            </a:r>
          </a:p>
          <a:p>
            <a:pPr lvl="0"/>
            <a:r>
              <a:rPr/>
              <a:t>Índice Kappa</a:t>
            </a:r>
          </a:p>
          <a:p>
            <a:pPr lvl="0"/>
            <a:r>
              <a:rPr/>
              <a:t>AUC/ROC</a:t>
            </a:r>
          </a:p>
          <a:p>
            <a:pPr lvl="0"/>
            <a:r>
              <a:rPr/>
              <a:t>Precision/Recall/F1 score</a:t>
            </a:r>
          </a:p>
          <a:p>
            <a:pPr lvl="0"/>
            <a:r>
              <a:rPr/>
              <a:t>RMSE e MAE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matriz de confusão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Todas as métricas de classificação são de alguma maneira relacionadas à matriz de confusão:</a:t>
            </a:r>
          </a:p>
        </p:txBody>
      </p:sp>
      <p:pic>
        <p:nvPicPr>
          <p:cNvPr descr="../figs/conf_ma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definição, se costuma usar as linhas para a ‘verdade’ e as colunas para o predito.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matriz de confusão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um problema multi-classe, temos que considerar cada classe: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TP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matriz de confusão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um problema multi-classe, temos que considerar cada classe: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TP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matriz de confusão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Dependendo da métrica, podemos generalizar para: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Correto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Acurácia Simples ou Global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Simplesmente a proporção de acertos (ou erros):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A</m:t>
                    </m:r>
                    <m:r>
                      <m:t>c</m:t>
                    </m:r>
                    <m:r>
                      <m:t>u</m:t>
                    </m:r>
                    <m:r>
                      <m:t>r</m:t>
                    </m:r>
                    <m:r>
                      <m:t>a</m:t>
                    </m:r>
                    <m:r>
                      <m:t>c</m:t>
                    </m:r>
                    <m:r>
                      <m:t>i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T</m:t>
                        </m:r>
                        <m:r>
                          <m:t>P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T</m:t>
                        </m:r>
                        <m:r>
                          <m:t>N</m:t>
                        </m:r>
                      </m:num>
                      <m:den>
                        <m:r>
                          <m:t>T</m:t>
                        </m:r>
                        <m:r>
                          <m:t>P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T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F</m:t>
                        </m:r>
                        <m:r>
                          <m:t>P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F</m:t>
                        </m:r>
                        <m:r>
                          <m:t>N</m:t>
                        </m:r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Acurácia Simples ou Global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Ac. Global = (26 + 30)/(26+3+6+30) = 0.862</a:t>
            </a:r>
          </a:p>
          <a:p>
            <a:pPr lvl="0"/>
            <a:r>
              <a:rPr/>
              <a:t>Ac. Classe A = 26/(26+3) = 0.897</a:t>
            </a:r>
          </a:p>
          <a:p>
            <a:pPr lvl="0"/>
            <a:r>
              <a:rPr/>
              <a:t>Ac. Classe B = 30/(30+6) = 0.833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Índice Kappa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Muito usado em sensoriamento remoto, é uma modificação da acurácia que ‘desconta’ a probabilidade de você acertar por acaso.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κ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T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×</m:t>
                            </m:r>
                            <m:r>
                              <m:t>T</m:t>
                            </m:r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F</m:t>
                            </m:r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×</m:t>
                            </m:r>
                            <m:r>
                              <m:t>F</m:t>
                            </m:r>
                            <m:r>
                              <m:t>P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T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F</m:t>
                            </m:r>
                            <m:r>
                              <m:t>P</m:t>
                            </m:r>
                          </m:e>
                        </m:d>
                        <m:r>
                          <m:rPr>
                            <m:sty m:val="p"/>
                          </m:rPr>
                          <m:t>×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F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T</m:t>
                            </m:r>
                            <m: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m:t>+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T</m:t>
                            </m:r>
                            <m:r>
                              <m:t>P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F</m:t>
                            </m:r>
                            <m: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m:t>×</m:t>
                        </m:r>
                        <m:d>
                          <m:dPr>
                            <m:begChr m:val="("/>
                            <m:endChr m:val=")"/>
                            <m:sepChr m:val=""/>
                            <m:grow/>
                          </m:dPr>
                          <m:e>
                            <m:r>
                              <m:t>F</m:t>
                            </m:r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t>T</m:t>
                            </m:r>
                            <m:r>
                              <m:t>N</m:t>
                            </m:r>
                          </m:e>
                        </m:d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Índice Kappa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Acurácia Global = 0.862 Kappa = 0.723.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ROC/AUC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ROC</a:t>
            </a:r>
            <a:r>
              <a:rPr/>
              <a:t> significa </a:t>
            </a:r>
            <a:r>
              <a:rPr i="1"/>
              <a:t>Receiver Operator Curve</a:t>
            </a:r>
            <a:r>
              <a:rPr/>
              <a:t>: representação visual da performance do modelo.</a:t>
            </a:r>
          </a:p>
          <a:p>
            <a:pPr lvl="0" indent="0" marL="0">
              <a:buNone/>
            </a:pPr>
            <a:r>
              <a:rPr i="1"/>
              <a:t>AUC</a:t>
            </a:r>
            <a:r>
              <a:rPr/>
              <a:t> significa </a:t>
            </a:r>
            <a:r>
              <a:rPr i="1"/>
              <a:t>Area Under the Curve</a:t>
            </a:r>
            <a:r>
              <a:rPr/>
              <a:t>: área abaixo da curva ROC.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ROC/AUC</a:t>
            </a:r>
          </a:p>
        </p:txBody>
      </p:sp>
      <p:pic>
        <p:nvPicPr>
          <p:cNvPr descr="../figs/auc_0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../figs/auc_0-9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Precision, Recall, Sensitivity, Specificty, F1 Score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Métricas mais apropriadas para o </a:t>
            </a:r>
            <a:r>
              <a:rPr i="1"/>
              <a:t>TESTE</a:t>
            </a:r>
            <a:r>
              <a:rPr/>
              <a:t> do modelo, pois podem ser interpretadas mais sutilmente. Relembrando:</a:t>
            </a:r>
          </a:p>
        </p:txBody>
      </p:sp>
      <p:pic>
        <p:nvPicPr>
          <p:cNvPr descr="../figs/conf_ma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Precision, Recall, Sensitivity, Specificty, F1 Score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Precision (TP/TP+FP):</a:t>
            </a:r>
            <a:r>
              <a:rPr/>
              <a:t> porcentagem de positivos corretos dentre todos os positivos </a:t>
            </a:r>
            <a:r>
              <a:rPr i="1"/>
              <a:t>detectados</a:t>
            </a:r>
            <a:r>
              <a:rPr/>
              <a:t>. Em SR, a </a:t>
            </a:r>
            <a:r>
              <a:rPr i="1"/>
              <a:t>‘acurácia do produtor’</a:t>
            </a:r>
            <a:r>
              <a:rPr/>
              <a:t>. Maior precisão = menor chance de falsos positivos.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Precisão Classe A = 26/(26+6) = 0.897</a:t>
            </a:r>
          </a:p>
          <a:p>
            <a:pPr lvl="0"/>
            <a:r>
              <a:rPr/>
              <a:t>Precisão Classe B = 30/(30+3) = 0.833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Precision, Recall, F1 Score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Recall (TP/TP+FN):</a:t>
            </a:r>
            <a:r>
              <a:rPr/>
              <a:t> porcentagem de positivos verdadeiros que foram efetivamente identificados. O mesmo que acurácia por classe ou </a:t>
            </a:r>
            <a:r>
              <a:rPr i="1"/>
              <a:t>’acurácia do usuário</a:t>
            </a:r>
            <a:r>
              <a:rPr/>
              <a:t>. Maior recall = maior chance de detecção de positivos.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Classe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Precisão Classe A = 26/(26+3) = 0.897</a:t>
            </a:r>
          </a:p>
          <a:p>
            <a:pPr lvl="0"/>
            <a:r>
              <a:rPr/>
              <a:t>Precisão Classe B = 30/(30+6) = 0.833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Exemplos de aplicação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1: Deteção de Spam - é melhor deixar um e-mail real cair no SPAM do colocar SPAM na caixa de entrada.</a:t>
            </a:r>
          </a:p>
          <a:p>
            <a:pPr lvl="0"/>
            <a:r>
              <a:rPr/>
              <a:t>A Precisão foca em minimizar Falsos Positivos (FP). Maior precisão significa menos emails de SPAM são marcados como reais, à custa de marcar algus emails reais como spam.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Exemplos de aplicação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Caso 2: Diagnostico de uma doença - é melhor diagnosticar um paciente sadio como doente do que deixar de diagnosticar um paciente doente.</a:t>
            </a:r>
          </a:p>
          <a:p>
            <a:pPr lvl="0"/>
            <a:r>
              <a:rPr/>
              <a:t>O Recall foca em minimizar Falsos Negativos. Maior recall significa que mais pacientes doentes são diagnosticados, à custa de diagnosticar alguns sadios.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Precision, Recall, F1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Exemplo interativo: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https://developers.google.com/machine-learning/crash-course/classification/accuracy-precision-recall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F1 Score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F1 Score: uma métrica única que combina Precision e Recall: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F</m:t>
                    </m:r>
                    <m:r>
                      <m:t>1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P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c</m:t>
                        </m:r>
                        <m:r>
                          <m:t>i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c</m:t>
                        </m:r>
                        <m:r>
                          <m:t>a</m:t>
                        </m:r>
                        <m:r>
                          <m:t>l</m:t>
                        </m:r>
                        <m:r>
                          <m:t>l</m:t>
                        </m:r>
                      </m:num>
                      <m:den>
                        <m:r>
                          <m:t>P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c</m:t>
                        </m:r>
                        <m:r>
                          <m:t>i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c</m:t>
                        </m:r>
                        <m:r>
                          <m:t>a</m:t>
                        </m:r>
                        <m:r>
                          <m:t>l</m:t>
                        </m:r>
                        <m:r>
                          <m:t>l</m:t>
                        </m:r>
                      </m:den>
                    </m:f>
                  </m:oMath>
                </a14:m>
              </a:p>
              <a:p>
                <a:pPr lvl="0" indent="0" marL="0">
                  <a:buNone/>
                </a:pPr>
                <a:r>
                  <a:rPr/>
                  <a:t>Essa fórmula prioriza valores balanceados das duas métricas.</a:t>
                </a:r>
              </a:p>
            </p:txBody>
          </p:sp>
        </mc:Choice>
      </mc:AlternateContent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Erros contínuos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Para problemas de </a:t>
                </a:r>
                <a:r>
                  <a:rPr i="1"/>
                  <a:t>regressão</a:t>
                </a:r>
                <a:r>
                  <a:rPr/>
                  <a:t>, os erros são mais simples: quão perto/longe você chegou do valor real?</a:t>
                </a:r>
              </a:p>
              <a:p>
                <a:pPr lvl="0"/>
                <a:r>
                  <a:rPr/>
                  <a:t>Root Mean Squared Error (RMSE):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</m:naryPr>
                              <m:sub>
                                <m: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m:t>=</m:t>
                                </m:r>
                                <m:r>
                                  <m:t>1</m:t>
                                </m:r>
                              </m:sub>
                              <m:sup>
                                <m:r>
                                  <m:t>N</m:t>
                                </m:r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endChr m:val=")"/>
                                        <m:sepChr m:val=""/>
                                        <m:grow/>
                                      </m:dPr>
                                      <m:e>
                                        <m:r>
                                          <m:t>p</m:t>
                                        </m:r>
                                        <m:r>
                                          <m:t>r</m:t>
                                        </m:r>
                                        <m:r>
                                          <m:t>e</m:t>
                                        </m:r>
                                        <m:sSub>
                                          <m:e>
                                            <m: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−</m:t>
                                        </m:r>
                                        <m:r>
                                          <m:t>o</m:t>
                                        </m:r>
                                        <m:r>
                                          <m:t>b</m:t>
                                        </m:r>
                                        <m:sSub>
                                          <m:e>
                                            <m:r>
                                              <m:t>s</m:t>
                                            </m:r>
                                          </m:e>
                                          <m:sub>
                                            <m:r>
                                              <m:t>i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m:t>N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/>
                <a:r>
                  <a:rPr/>
                  <a:t>Mean Absolute Error (MAE):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sepChr m:val=""/>
                                <m:grow/>
                              </m:dPr>
                              <m:e>
                                <m:d>
                                  <m:dPr>
                                    <m:begChr m:val="("/>
                                    <m:endChr m:val=")"/>
                                    <m:sepChr m:val=""/>
                                    <m:grow/>
                                  </m:dPr>
                                  <m:e>
                                    <m:r>
                                      <m:t>p</m:t>
                                    </m:r>
                                    <m:r>
                                      <m:t>r</m:t>
                                    </m:r>
                                    <m:r>
                                      <m:t>e</m:t>
                                    </m:r>
                                    <m:sSub>
                                      <m:e>
                                        <m:r>
                                          <m:t>d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−</m:t>
                                    </m:r>
                                    <m:r>
                                      <m:t>o</m:t>
                                    </m:r>
                                    <m:r>
                                      <m:t>b</m:t>
                                    </m:r>
                                    <m:sSub>
                                      <m:e>
                                        <m: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nary>
                      </m:num>
                      <m:den>
                        <m:r>
                          <m:t>N</m:t>
                        </m:r>
                      </m:den>
                    </m:f>
                  </m:oMath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4 - Machine Learning</dc:title>
  <dc:creator>Thiago S. F. Silva</dc:creator>
  <cp:keywords/>
  <dcterms:created xsi:type="dcterms:W3CDTF">2025-12-16T13:32:07Z</dcterms:created>
  <dcterms:modified xsi:type="dcterms:W3CDTF">2025-12-16T13:32:07Z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2025-12-15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Introdução ao aprendizado de máquina - UEMA 2025</vt:lpwstr>
  </property>
  <property fmtid="{D5CDD505-2E9C-101B-9397-08002B2CF9AE}" pid="11" name="toc-title">
    <vt:lpwstr>Table of contents</vt:lpwstr>
  </property>
</Properties>
</file>